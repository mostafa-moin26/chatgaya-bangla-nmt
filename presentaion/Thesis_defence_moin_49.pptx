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57" r:id="rId5"/>
    <p:sldId id="281" r:id="rId6"/>
    <p:sldId id="259" r:id="rId7"/>
    <p:sldId id="260" r:id="rId8"/>
    <p:sldId id="261" r:id="rId9"/>
    <p:sldId id="262" r:id="rId10"/>
    <p:sldId id="263" r:id="rId11"/>
    <p:sldId id="264" r:id="rId12"/>
    <p:sldId id="28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2A4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 panose="020B0604020202020204"/>
              </a:rPr>
              <a:t>Chart Title</a:t>
            </a:r>
            <a:endParaRPr sz="1200" b="0" i="0" u="none" strike="noStrike">
              <a:solidFill>
                <a:srgbClr val="1B2A4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Dataset</c:v>
                </c:pt>
              </c:strCache>
            </c:strRef>
          </c:tx>
          <c:spPr>
            <a:solidFill>
              <a:srgbClr val="2E5EA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BLEU</c:v>
                </c:pt>
                <c:pt idx="1">
                  <c:v>chrF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42.39</c:v>
                </c:pt>
                <c:pt idx="1">
                  <c:v>69.51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Augmented Dataset</c:v>
                </c:pt>
              </c:strCache>
            </c:strRef>
          </c:tx>
          <c:spPr>
            <a:solidFill>
              <a:srgbClr val="F2994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BLEU</c:v>
                </c:pt>
                <c:pt idx="1">
                  <c:v>chrF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45.06</c:v>
                </c:pt>
                <c:pt idx="1">
                  <c:v>72.11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 cmpd="sng" algn="ctr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749e835-4267-4a2d-944a-5a33599160b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2A4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 panose="020B0604020202020204"/>
              </a:rPr>
              <a:t>Chart Title</a:t>
            </a:r>
            <a:endParaRPr sz="1200" b="0" i="0" u="none" strike="noStrike">
              <a:solidFill>
                <a:srgbClr val="1B2A4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Dataset</c:v>
                </c:pt>
              </c:strCache>
            </c:strRef>
          </c:tx>
          <c:spPr>
            <a:solidFill>
              <a:srgbClr val="2E5EA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BLEU</c:v>
                </c:pt>
                <c:pt idx="1">
                  <c:v>chrF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55.56</c:v>
                </c:pt>
                <c:pt idx="1">
                  <c:v>79.09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Augmented Dataset</c:v>
                </c:pt>
              </c:strCache>
            </c:strRef>
          </c:tx>
          <c:spPr>
            <a:solidFill>
              <a:srgbClr val="F2994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BLEU</c:v>
                </c:pt>
                <c:pt idx="1">
                  <c:v>chrF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55.03</c:v>
                </c:pt>
                <c:pt idx="1">
                  <c:v>79.37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 cmpd="sng" algn="ctr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cf67543-0d93-44cf-9c5c-0a07d82403f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42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43.png"/><Relationship Id="rId3" Type="http://schemas.openxmlformats.org/officeDocument/2006/relationships/image" Target="../media/image23.png"/><Relationship Id="rId2" Type="http://schemas.openxmlformats.org/officeDocument/2006/relationships/image" Target="../media/image40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7A398">
              <a:alpha val="30000"/>
            </a:srgbClr>
          </a:solidFill>
        </p:spPr>
      </p:sp>
      <p:sp>
        <p:nvSpPr>
          <p:cNvPr id="43" name="Shape 2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F2994A">
              <a:alpha val="18000"/>
            </a:srgbClr>
          </a:solidFill>
        </p:spPr>
        <p:txBody>
          <a:bodyPr/>
          <a:p>
            <a:endParaRPr lang="en-US"/>
          </a:p>
        </p:txBody>
      </p:sp>
      <p:sp>
        <p:nvSpPr>
          <p:cNvPr id="44" name="Text 3"/>
          <p:cNvSpPr/>
          <p:nvPr/>
        </p:nvSpPr>
        <p:spPr>
          <a:xfrm>
            <a:off x="1892300" y="548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BGC TRUST UNIVERSITY BANGLADESH</a:t>
            </a:r>
            <a:endParaRPr lang="en-US" sz="2400" b="1" kern="0" spc="2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Text 4"/>
          <p:cNvSpPr/>
          <p:nvPr/>
        </p:nvSpPr>
        <p:spPr>
          <a:xfrm>
            <a:off x="1910080" y="931545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822960" y="1965960"/>
            <a:ext cx="502920" cy="82296"/>
          </a:xfrm>
          <a:prstGeom prst="roundRect">
            <a:avLst>
              <a:gd name="adj" fmla="val 44444"/>
            </a:avLst>
          </a:prstGeom>
          <a:solidFill>
            <a:srgbClr val="17A398"/>
          </a:solidFill>
        </p:spPr>
      </p:sp>
      <p:sp>
        <p:nvSpPr>
          <p:cNvPr id="47" name="Text 6"/>
          <p:cNvSpPr/>
          <p:nvPr/>
        </p:nvSpPr>
        <p:spPr>
          <a:xfrm>
            <a:off x="822960" y="2175510"/>
            <a:ext cx="9418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Bidirectional Neural Machine Translation Between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 Bangla and the Chatgaya Dialect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48" name="Text 7"/>
          <p:cNvSpPr/>
          <p:nvPr/>
        </p:nvSpPr>
        <p:spPr>
          <a:xfrm>
            <a:off x="822960" y="363220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Fine-Tuned mBART-50</a:t>
            </a:r>
            <a:endParaRPr lang="en-US" sz="2200" dirty="0"/>
          </a:p>
        </p:txBody>
      </p:sp>
      <p:sp>
        <p:nvSpPr>
          <p:cNvPr id="49" name="Shape 8"/>
          <p:cNvSpPr/>
          <p:nvPr/>
        </p:nvSpPr>
        <p:spPr>
          <a:xfrm>
            <a:off x="822960" y="4526280"/>
            <a:ext cx="4797425" cy="1600200"/>
          </a:xfrm>
          <a:prstGeom prst="roundRect">
            <a:avLst>
              <a:gd name="adj" fmla="val 5714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0" name="Text 9"/>
          <p:cNvSpPr/>
          <p:nvPr/>
        </p:nvSpPr>
        <p:spPr>
          <a:xfrm>
            <a:off x="960120" y="4607560"/>
            <a:ext cx="4522470" cy="14801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resented by: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Mostafa Al Moin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220239049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</p:txBody>
      </p:sp>
      <p:sp>
        <p:nvSpPr>
          <p:cNvPr id="51" name="Text 10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Undergraduate Thesis Defense  •  August 2026</a:t>
            </a:r>
            <a:endParaRPr lang="en-US" sz="1100" i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52" name="Picture 51" descr="bg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0"/>
            <a:ext cx="1788795" cy="1633220"/>
          </a:xfrm>
          <a:prstGeom prst="rect">
            <a:avLst/>
          </a:prstGeom>
        </p:spPr>
      </p:pic>
      <p:sp>
        <p:nvSpPr>
          <p:cNvPr id="53" name="Shape 8"/>
          <p:cNvSpPr/>
          <p:nvPr/>
        </p:nvSpPr>
        <p:spPr>
          <a:xfrm>
            <a:off x="6024880" y="4554855"/>
            <a:ext cx="4797425" cy="1600200"/>
          </a:xfrm>
          <a:prstGeom prst="roundRect">
            <a:avLst>
              <a:gd name="adj" fmla="val 5714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4" name="Text 9"/>
          <p:cNvSpPr/>
          <p:nvPr/>
        </p:nvSpPr>
        <p:spPr>
          <a:xfrm>
            <a:off x="6162040" y="4622800"/>
            <a:ext cx="4522470" cy="15043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Supervision of: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Md. Asaduzzaman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Lecturer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</p:txBody>
      </p:sp>
      <p:sp>
        <p:nvSpPr>
          <p:cNvPr id="26" name="Shape 0"/>
          <p:cNvSpPr/>
          <p:nvPr/>
        </p:nvSpPr>
        <p:spPr>
          <a:xfrm>
            <a:off x="9966960" y="-2103120"/>
            <a:ext cx="4572000" cy="4572000"/>
          </a:xfrm>
          <a:prstGeom prst="ellipse">
            <a:avLst/>
          </a:prstGeom>
          <a:solidFill>
            <a:srgbClr val="EAF1F5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18488"/>
            <a:ext cx="256032" cy="457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5" name="Text 3"/>
          <p:cNvSpPr/>
          <p:nvPr/>
        </p:nvSpPr>
        <p:spPr>
          <a:xfrm>
            <a:off x="868680" y="1527048"/>
            <a:ext cx="5943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FOUNDATION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47088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8" name="Shape 6"/>
          <p:cNvSpPr/>
          <p:nvPr/>
        </p:nvSpPr>
        <p:spPr>
          <a:xfrm>
            <a:off x="722376" y="2002536"/>
            <a:ext cx="512064" cy="512064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9" name="Image 0" descr="/home/claude/thesis_deck/icons/boo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944" y="2069104"/>
            <a:ext cx="378927" cy="3789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60776" y="1901952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22376" y="2542032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85488" y="1847088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85488" y="1847088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14" name="Shape 11"/>
          <p:cNvSpPr/>
          <p:nvPr/>
        </p:nvSpPr>
        <p:spPr>
          <a:xfrm>
            <a:off x="4504944" y="2002536"/>
            <a:ext cx="512064" cy="512064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5" name="Image 1" descr="/home/claude/thesis_deck/icons/trackchang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512" y="2069104"/>
            <a:ext cx="378927" cy="3789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43344" y="1901952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4504944" y="2542032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Problem, Objectives &amp; Research Questions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68056" y="1847088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8056" y="1847088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20" name="Shape 16"/>
          <p:cNvSpPr/>
          <p:nvPr/>
        </p:nvSpPr>
        <p:spPr>
          <a:xfrm>
            <a:off x="8287512" y="2002536"/>
            <a:ext cx="512064" cy="512064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1" name="Image 2" descr="/home/claude/thesis_deck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080" y="2069104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725912" y="1901952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8287512" y="2542032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095848" y="2999232"/>
            <a:ext cx="0" cy="219456"/>
          </a:xfrm>
          <a:prstGeom prst="line">
            <a:avLst/>
          </a:prstGeom>
          <a:noFill/>
          <a:ln w="15875">
            <a:solidFill>
              <a:srgbClr val="8A93A3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502920" y="3282696"/>
            <a:ext cx="256032" cy="45720"/>
          </a:xfrm>
          <a:prstGeom prst="roundRect">
            <a:avLst>
              <a:gd name="adj" fmla="val 50000"/>
            </a:avLst>
          </a:prstGeom>
          <a:solidFill>
            <a:srgbClr val="2E5EAA"/>
          </a:solidFill>
        </p:spPr>
      </p:sp>
      <p:sp>
        <p:nvSpPr>
          <p:cNvPr id="26" name="Text 21"/>
          <p:cNvSpPr/>
          <p:nvPr/>
        </p:nvSpPr>
        <p:spPr>
          <a:xfrm>
            <a:off x="868680" y="3191256"/>
            <a:ext cx="5943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METHODOLOGY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02920" y="3511296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02920" y="3511296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2E5EAA"/>
          </a:solidFill>
        </p:spPr>
      </p:sp>
      <p:sp>
        <p:nvSpPr>
          <p:cNvPr id="29" name="Shape 24"/>
          <p:cNvSpPr/>
          <p:nvPr/>
        </p:nvSpPr>
        <p:spPr>
          <a:xfrm>
            <a:off x="722376" y="3666744"/>
            <a:ext cx="512064" cy="512064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30" name="Image 3" descr="/home/claude/thesis_deck/icons/stor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44" y="3733312"/>
            <a:ext cx="378927" cy="37892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160776" y="3566160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2E5E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500" dirty="0"/>
          </a:p>
        </p:txBody>
      </p:sp>
      <p:sp>
        <p:nvSpPr>
          <p:cNvPr id="32" name="Text 26"/>
          <p:cNvSpPr/>
          <p:nvPr/>
        </p:nvSpPr>
        <p:spPr>
          <a:xfrm>
            <a:off x="722376" y="4206240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Dataset Construction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285488" y="3511296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285488" y="3511296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2E5EAA"/>
          </a:solidFill>
        </p:spPr>
      </p:sp>
      <p:sp>
        <p:nvSpPr>
          <p:cNvPr id="35" name="Shape 29"/>
          <p:cNvSpPr/>
          <p:nvPr/>
        </p:nvSpPr>
        <p:spPr>
          <a:xfrm>
            <a:off x="4504944" y="3666744"/>
            <a:ext cx="512064" cy="512064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36" name="Image 4" descr="/home/claude/thesis_deck/icons/memor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512" y="3733312"/>
            <a:ext cx="378927" cy="37892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43344" y="3566160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2E5E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500" dirty="0"/>
          </a:p>
        </p:txBody>
      </p:sp>
      <p:sp>
        <p:nvSpPr>
          <p:cNvPr id="38" name="Text 31"/>
          <p:cNvSpPr/>
          <p:nvPr/>
        </p:nvSpPr>
        <p:spPr>
          <a:xfrm>
            <a:off x="4504944" y="4206240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Augmentation &amp; Model Architecture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068056" y="3511296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068056" y="3511296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2E5EAA"/>
          </a:solidFill>
        </p:spPr>
      </p:sp>
      <p:sp>
        <p:nvSpPr>
          <p:cNvPr id="41" name="Shape 34"/>
          <p:cNvSpPr/>
          <p:nvPr/>
        </p:nvSpPr>
        <p:spPr>
          <a:xfrm>
            <a:off x="8287512" y="3666744"/>
            <a:ext cx="512064" cy="512064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42" name="Image 5" descr="/home/claude/thesis_deck/icons/scie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080" y="3733312"/>
            <a:ext cx="378927" cy="378927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725912" y="3566160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2E5E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500" dirty="0"/>
          </a:p>
        </p:txBody>
      </p:sp>
      <p:sp>
        <p:nvSpPr>
          <p:cNvPr id="44" name="Text 36"/>
          <p:cNvSpPr/>
          <p:nvPr/>
        </p:nvSpPr>
        <p:spPr>
          <a:xfrm>
            <a:off x="8287512" y="4206240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Experiments, Training &amp; Evaluation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6095848" y="4663440"/>
            <a:ext cx="0" cy="219456"/>
          </a:xfrm>
          <a:prstGeom prst="line">
            <a:avLst/>
          </a:prstGeom>
          <a:noFill/>
          <a:ln w="15875">
            <a:solidFill>
              <a:srgbClr val="8A93A3"/>
            </a:solidFill>
            <a:prstDash val="dash"/>
          </a:ln>
        </p:spPr>
      </p:sp>
      <p:sp>
        <p:nvSpPr>
          <p:cNvPr id="46" name="Shape 38"/>
          <p:cNvSpPr/>
          <p:nvPr/>
        </p:nvSpPr>
        <p:spPr>
          <a:xfrm>
            <a:off x="502920" y="4946904"/>
            <a:ext cx="256032" cy="45720"/>
          </a:xfrm>
          <a:prstGeom prst="roundRect">
            <a:avLst>
              <a:gd name="adj" fmla="val 50000"/>
            </a:avLst>
          </a:prstGeom>
          <a:solidFill>
            <a:srgbClr val="F2994A"/>
          </a:solidFill>
        </p:spPr>
      </p:sp>
      <p:sp>
        <p:nvSpPr>
          <p:cNvPr id="47" name="Text 39"/>
          <p:cNvSpPr/>
          <p:nvPr/>
        </p:nvSpPr>
        <p:spPr>
          <a:xfrm>
            <a:off x="868680" y="4855464"/>
            <a:ext cx="5943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— OUTCOMES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502920" y="5175504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502920" y="5175504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F2994A"/>
          </a:solidFill>
        </p:spPr>
      </p:sp>
      <p:sp>
        <p:nvSpPr>
          <p:cNvPr id="50" name="Shape 42"/>
          <p:cNvSpPr/>
          <p:nvPr/>
        </p:nvSpPr>
        <p:spPr>
          <a:xfrm>
            <a:off x="722376" y="5330952"/>
            <a:ext cx="512064" cy="512064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51" name="Image 6" descr="/home/claude/thesis_deck/icons/bar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944" y="5397520"/>
            <a:ext cx="378927" cy="378927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3160776" y="5230368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29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2500" dirty="0"/>
          </a:p>
        </p:txBody>
      </p:sp>
      <p:sp>
        <p:nvSpPr>
          <p:cNvPr id="53" name="Text 44"/>
          <p:cNvSpPr/>
          <p:nvPr/>
        </p:nvSpPr>
        <p:spPr>
          <a:xfrm>
            <a:off x="722376" y="5870448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Human Evaluation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4285488" y="5175504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4285488" y="5175504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F2994A"/>
          </a:solidFill>
        </p:spPr>
      </p:sp>
      <p:sp>
        <p:nvSpPr>
          <p:cNvPr id="56" name="Shape 47"/>
          <p:cNvSpPr/>
          <p:nvPr/>
        </p:nvSpPr>
        <p:spPr>
          <a:xfrm>
            <a:off x="4504944" y="5330952"/>
            <a:ext cx="512064" cy="512064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57" name="Image 7" descr="/home/claude/thesis_deck/icons/smartpho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512" y="5397520"/>
            <a:ext cx="378927" cy="378927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943344" y="5230368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29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2500" dirty="0"/>
          </a:p>
        </p:txBody>
      </p:sp>
      <p:sp>
        <p:nvSpPr>
          <p:cNvPr id="59" name="Text 49"/>
          <p:cNvSpPr/>
          <p:nvPr/>
        </p:nvSpPr>
        <p:spPr>
          <a:xfrm>
            <a:off x="4504944" y="5870448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Deployment &amp; Demo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8068056" y="5175504"/>
            <a:ext cx="3617976" cy="1133856"/>
          </a:xfrm>
          <a:prstGeom prst="roundRect">
            <a:avLst>
              <a:gd name="adj" fmla="val 725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8068056" y="5175504"/>
            <a:ext cx="64008" cy="1133856"/>
          </a:xfrm>
          <a:prstGeom prst="roundRect">
            <a:avLst>
              <a:gd name="adj" fmla="val 50000"/>
            </a:avLst>
          </a:prstGeom>
          <a:solidFill>
            <a:srgbClr val="F2994A"/>
          </a:solidFill>
        </p:spPr>
      </p:sp>
      <p:sp>
        <p:nvSpPr>
          <p:cNvPr id="62" name="Shape 52"/>
          <p:cNvSpPr/>
          <p:nvPr/>
        </p:nvSpPr>
        <p:spPr>
          <a:xfrm>
            <a:off x="8287512" y="5330952"/>
            <a:ext cx="512064" cy="512064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63" name="Image 8" descr="/home/claude/thesis_deck/icons/troph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4080" y="5397520"/>
            <a:ext cx="378927" cy="378927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10725912" y="5230368"/>
            <a:ext cx="777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29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2500" dirty="0"/>
          </a:p>
        </p:txBody>
      </p:sp>
      <p:sp>
        <p:nvSpPr>
          <p:cNvPr id="65" name="Text 54"/>
          <p:cNvSpPr/>
          <p:nvPr/>
        </p:nvSpPr>
        <p:spPr>
          <a:xfrm>
            <a:off x="8287512" y="5870448"/>
            <a:ext cx="319735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Contributions, Limitations &amp; Conclusion</a:t>
            </a:r>
            <a:endParaRPr lang="en-US" sz="1200" dirty="0"/>
          </a:p>
        </p:txBody>
      </p:sp>
      <p:sp>
        <p:nvSpPr>
          <p:cNvPr id="66" name="Text 5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67" name="Text 5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— SETTING THE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949440" cy="3823335"/>
          </a:xfrm>
          <a:prstGeom prst="roundRect">
            <a:avLst>
              <a:gd name="adj" fmla="val 2041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Rules to Multilingual Transformers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640080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Machine Translation (NMT) has transformed multilingual communication, driven by Transformer architectures and multilingual pre-trained models such as mBART-50.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Yet regional dialects with scarce parallel data — including Bangladesh's Chatgaya (Chittagonian) dialect — remain largely underserved by modern translation systems.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research fine-tunes mBART-50 to build a bidirectional Standard Bangla ↔ Chatgaya translation system — evaluated with automatic metrics and native-speaker judgment, and deployed as a working mobile prototype.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1810512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Evolution of Machine Translation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91272" y="2450592"/>
            <a:ext cx="0" cy="694944"/>
          </a:xfrm>
          <a:prstGeom prst="line">
            <a:avLst/>
          </a:prstGeom>
          <a:noFill/>
          <a:ln w="25400">
            <a:solidFill>
              <a:srgbClr val="E1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331720"/>
            <a:ext cx="237744" cy="237744"/>
          </a:xfrm>
          <a:prstGeom prst="ellipse">
            <a:avLst/>
          </a:prstGeom>
          <a:solidFill>
            <a:srgbClr val="17A398"/>
          </a:solidFill>
        </p:spPr>
      </p:sp>
      <p:sp>
        <p:nvSpPr>
          <p:cNvPr id="10" name="Text 8"/>
          <p:cNvSpPr/>
          <p:nvPr/>
        </p:nvSpPr>
        <p:spPr>
          <a:xfrm>
            <a:off x="8183880" y="2221992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MT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91272" y="3163824"/>
            <a:ext cx="0" cy="694944"/>
          </a:xfrm>
          <a:prstGeom prst="line">
            <a:avLst/>
          </a:prstGeom>
          <a:noFill/>
          <a:ln w="25400">
            <a:solidFill>
              <a:srgbClr val="E1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44952"/>
            <a:ext cx="237744" cy="237744"/>
          </a:xfrm>
          <a:prstGeom prst="ellipse">
            <a:avLst/>
          </a:prstGeom>
          <a:solidFill>
            <a:srgbClr val="17A398"/>
          </a:solidFill>
        </p:spPr>
      </p:sp>
      <p:sp>
        <p:nvSpPr>
          <p:cNvPr id="13" name="Text 11"/>
          <p:cNvSpPr/>
          <p:nvPr/>
        </p:nvSpPr>
        <p:spPr>
          <a:xfrm>
            <a:off x="8183880" y="2935224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MT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91272" y="3877056"/>
            <a:ext cx="0" cy="694944"/>
          </a:xfrm>
          <a:prstGeom prst="line">
            <a:avLst/>
          </a:prstGeom>
          <a:noFill/>
          <a:ln w="25400">
            <a:solidFill>
              <a:srgbClr val="E1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758184"/>
            <a:ext cx="237744" cy="237744"/>
          </a:xfrm>
          <a:prstGeom prst="ellipse">
            <a:avLst/>
          </a:prstGeom>
          <a:solidFill>
            <a:srgbClr val="17A398"/>
          </a:solidFill>
        </p:spPr>
      </p:sp>
      <p:sp>
        <p:nvSpPr>
          <p:cNvPr id="16" name="Text 14"/>
          <p:cNvSpPr/>
          <p:nvPr/>
        </p:nvSpPr>
        <p:spPr>
          <a:xfrm>
            <a:off x="8183880" y="3648456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MT (Seq2Seq + Attention)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91272" y="4590288"/>
            <a:ext cx="0" cy="694944"/>
          </a:xfrm>
          <a:prstGeom prst="line">
            <a:avLst/>
          </a:prstGeom>
          <a:noFill/>
          <a:ln w="25400">
            <a:solidFill>
              <a:srgbClr val="E1E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471416"/>
            <a:ext cx="237744" cy="237744"/>
          </a:xfrm>
          <a:prstGeom prst="ellipse">
            <a:avLst/>
          </a:prstGeom>
          <a:solidFill>
            <a:srgbClr val="17A398"/>
          </a:solidFill>
        </p:spPr>
      </p:sp>
      <p:sp>
        <p:nvSpPr>
          <p:cNvPr id="19" name="Text 17"/>
          <p:cNvSpPr/>
          <p:nvPr/>
        </p:nvSpPr>
        <p:spPr>
          <a:xfrm>
            <a:off x="8183880" y="4361688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91272" y="5303520"/>
            <a:ext cx="0" cy="0"/>
          </a:xfrm>
          <a:prstGeom prst="line">
            <a:avLst/>
          </a:prstGeom>
          <a:noFill/>
          <a:ln w="25400">
            <a:solidFill>
              <a:srgbClr val="E1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5184648"/>
            <a:ext cx="237744" cy="237744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22" name="Text 20"/>
          <p:cNvSpPr/>
          <p:nvPr/>
        </p:nvSpPr>
        <p:spPr>
          <a:xfrm>
            <a:off x="8183880" y="50749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Models (mBART-50)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—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706624" cy="3108960"/>
          </a:xfrm>
          <a:prstGeom prst="roundRect">
            <a:avLst>
              <a:gd name="adj" fmla="val 3041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66544"/>
            <a:ext cx="621792" cy="621792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6" name="Image 0" descr="/home/claude/thesis_deck/icons/translat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09" y="2147377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816352"/>
            <a:ext cx="2267712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Bangla &amp; Its Dialects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2376" y="3200400"/>
            <a:ext cx="329184" cy="41148"/>
          </a:xfrm>
          <a:prstGeom prst="roundRect">
            <a:avLst>
              <a:gd name="adj" fmla="val 44444"/>
            </a:avLst>
          </a:prstGeom>
          <a:solidFill>
            <a:srgbClr val="17A398"/>
          </a:solidFill>
        </p:spPr>
      </p:sp>
      <p:sp>
        <p:nvSpPr>
          <p:cNvPr id="9" name="Text 6"/>
          <p:cNvSpPr/>
          <p:nvPr/>
        </p:nvSpPr>
        <p:spPr>
          <a:xfrm>
            <a:off x="722376" y="3364992"/>
            <a:ext cx="226771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Bangla is spoken worldwide; the Chatgaya (Chittagonian) dialect is one of its most linguistically distinct regional varieties.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392424" y="1828800"/>
            <a:ext cx="2706624" cy="3108960"/>
          </a:xfrm>
          <a:prstGeom prst="roundRect">
            <a:avLst>
              <a:gd name="adj" fmla="val 3041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11880" y="2066544"/>
            <a:ext cx="621792" cy="621792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15" name="Image 2" descr="/home/claude/thesis_deck/icons/trendingdow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713" y="2147377"/>
            <a:ext cx="460126" cy="4601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2816352"/>
            <a:ext cx="2267712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Low-Resource Gap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3611880" y="3200400"/>
            <a:ext cx="329184" cy="41148"/>
          </a:xfrm>
          <a:prstGeom prst="roundRect">
            <a:avLst>
              <a:gd name="adj" fmla="val 44444"/>
            </a:avLst>
          </a:prstGeom>
          <a:solidFill>
            <a:srgbClr val="17A398"/>
          </a:solidFill>
        </p:spPr>
      </p:sp>
      <p:sp>
        <p:nvSpPr>
          <p:cNvPr id="18" name="Text 13"/>
          <p:cNvSpPr/>
          <p:nvPr/>
        </p:nvSpPr>
        <p:spPr>
          <a:xfrm>
            <a:off x="3611880" y="3364992"/>
            <a:ext cx="226771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Publicly available parallel corpora and translation systems for Standard Bangla–Chatgaya remain extremely limited.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81928" y="1828800"/>
            <a:ext cx="2706624" cy="3108960"/>
          </a:xfrm>
          <a:prstGeom prst="roundRect">
            <a:avLst>
              <a:gd name="adj" fmla="val 3041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01384" y="2066544"/>
            <a:ext cx="621792" cy="621792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1" name="Image 3" descr="/home/claude/thesis_deck/icons/psycholog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217" y="2147377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01384" y="2816352"/>
            <a:ext cx="2267712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mBART-50 Advantage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501384" y="3200400"/>
            <a:ext cx="329184" cy="41148"/>
          </a:xfrm>
          <a:prstGeom prst="roundRect">
            <a:avLst>
              <a:gd name="adj" fmla="val 44444"/>
            </a:avLst>
          </a:prstGeom>
          <a:solidFill>
            <a:srgbClr val="17A398"/>
          </a:solidFill>
        </p:spPr>
      </p:sp>
      <p:sp>
        <p:nvSpPr>
          <p:cNvPr id="24" name="Text 18"/>
          <p:cNvSpPr/>
          <p:nvPr/>
        </p:nvSpPr>
        <p:spPr>
          <a:xfrm>
            <a:off x="6501384" y="3364992"/>
            <a:ext cx="226771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pre-training lets mBART-50 reach strong performance with comparatively few parallel sentence pairs.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171432" y="1828800"/>
            <a:ext cx="2706624" cy="3108960"/>
          </a:xfrm>
          <a:prstGeom prst="roundRect">
            <a:avLst>
              <a:gd name="adj" fmla="val 3041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90888" y="2066544"/>
            <a:ext cx="621792" cy="621792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7" name="Image 4" descr="/home/claude/thesis_deck/icons/swaphoriz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721" y="2147377"/>
            <a:ext cx="460126" cy="4601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90888" y="2816352"/>
            <a:ext cx="2267712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Focus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9390888" y="3200400"/>
            <a:ext cx="329184" cy="41148"/>
          </a:xfrm>
          <a:prstGeom prst="roundRect">
            <a:avLst>
              <a:gd name="adj" fmla="val 44444"/>
            </a:avLst>
          </a:prstGeom>
          <a:solidFill>
            <a:srgbClr val="17A398"/>
          </a:solidFill>
        </p:spPr>
      </p:sp>
      <p:sp>
        <p:nvSpPr>
          <p:cNvPr id="30" name="Text 23"/>
          <p:cNvSpPr/>
          <p:nvPr/>
        </p:nvSpPr>
        <p:spPr>
          <a:xfrm>
            <a:off x="9390888" y="3364992"/>
            <a:ext cx="226771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study builds independent models for both Bangla→Chatgaya and Chatgaya→Bangla translation directions.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02920" y="5166360"/>
            <a:ext cx="11183112" cy="1051560"/>
          </a:xfrm>
          <a:prstGeom prst="roundRect">
            <a:avLst>
              <a:gd name="adj" fmla="val 8696"/>
            </a:avLst>
          </a:prstGeom>
          <a:solidFill>
            <a:srgbClr val="1B2A4A"/>
          </a:solidFill>
        </p:spPr>
      </p:sp>
      <p:sp>
        <p:nvSpPr>
          <p:cNvPr id="32" name="Shape 25"/>
          <p:cNvSpPr/>
          <p:nvPr/>
        </p:nvSpPr>
        <p:spPr>
          <a:xfrm>
            <a:off x="502920" y="5166360"/>
            <a:ext cx="3200400" cy="1051560"/>
          </a:xfrm>
          <a:prstGeom prst="ellipse">
            <a:avLst/>
          </a:prstGeom>
          <a:solidFill>
            <a:srgbClr val="2E5EAA">
              <a:alpha val="18000"/>
            </a:srgbClr>
          </a:solidFill>
        </p:spPr>
      </p:sp>
      <p:sp>
        <p:nvSpPr>
          <p:cNvPr id="33" name="Shape 26"/>
          <p:cNvSpPr/>
          <p:nvPr/>
        </p:nvSpPr>
        <p:spPr>
          <a:xfrm>
            <a:off x="777240" y="5408676"/>
            <a:ext cx="566928" cy="566928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34" name="Image 5" descr="/home/claude/thesis_deck/icons/light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5482377"/>
            <a:ext cx="419527" cy="41952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08760" y="531266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MOTIVATION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508760" y="5586984"/>
            <a:ext cx="9875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Preserve and digitize the Chatgaya dialect </a:t>
            </a:r>
            <a:r>
              <a:rPr lang="en-US" sz="1300" dirty="0">
                <a:solidFill>
                  <a:srgbClr val="C7D3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while advancing low-resource NMT research for Bangla regional language technologies.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WHY THIS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9377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speak the Chatgaya dialect daily, yet </a:t>
            </a:r>
            <a:r>
              <a:rPr lang="en-US" sz="135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sufficient parallel corpora or NMT systems</a:t>
            </a: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exist for Standard Bangla ↔ Chatgaya translation.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49377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Vocabulary, pronunciation &amp; sentence-structure differences make translation harder than standard language pairs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mBART-50's effectiveness for this pair is unexplored, due to a lack of suitable datasets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Little research compares canonical vs. augmented dataset strategies for dialect translation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42239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7452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955280" y="1874520"/>
            <a:ext cx="3566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NMT systems for Bangla–Chatgaya prior to this 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227832"/>
            <a:ext cx="542239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364992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2,020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955280" y="3364992"/>
            <a:ext cx="3566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curated parallel sentence pairs needed &amp; built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4718304"/>
            <a:ext cx="542239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4855464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955280" y="4855464"/>
            <a:ext cx="3566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directions requiring dedicated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GOALS OF THE STUDY</a:t>
            </a:r>
            <a:endParaRPr lang="en-US" sz="1200" dirty="0"/>
          </a:p>
        </p:txBody>
      </p:sp>
      <p:sp>
        <p:nvSpPr>
          <p:cNvPr id="237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Objectives</a:t>
            </a:r>
            <a:endParaRPr lang="en-US" sz="3200" dirty="0"/>
          </a:p>
        </p:txBody>
      </p:sp>
      <p:sp>
        <p:nvSpPr>
          <p:cNvPr id="238" name="Shape 2"/>
          <p:cNvSpPr/>
          <p:nvPr/>
        </p:nvSpPr>
        <p:spPr>
          <a:xfrm>
            <a:off x="502920" y="169164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9" name="Shape 3"/>
          <p:cNvSpPr/>
          <p:nvPr/>
        </p:nvSpPr>
        <p:spPr>
          <a:xfrm>
            <a:off x="713232" y="1810512"/>
            <a:ext cx="603504" cy="603504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40" name="Image 0" descr="/home/claude/thesi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688" y="1888968"/>
            <a:ext cx="446593" cy="446593"/>
          </a:xfrm>
          <a:prstGeom prst="rect">
            <a:avLst/>
          </a:prstGeom>
        </p:spPr>
      </p:pic>
      <p:sp>
        <p:nvSpPr>
          <p:cNvPr id="241" name="Text 4"/>
          <p:cNvSpPr/>
          <p:nvPr/>
        </p:nvSpPr>
        <p:spPr>
          <a:xfrm>
            <a:off x="1545336" y="1691640"/>
            <a:ext cx="54864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E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b="1" dirty="0">
              <a:solidFill>
                <a:srgbClr val="2E5EAA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2368296" y="1691640"/>
            <a:ext cx="903767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 manually curated Standard Bangla–Chatgaya parallel corpus</a:t>
            </a:r>
            <a:endParaRPr lang="en-US" sz="1400" dirty="0"/>
          </a:p>
        </p:txBody>
      </p:sp>
      <p:sp>
        <p:nvSpPr>
          <p:cNvPr id="243" name="Shape 6"/>
          <p:cNvSpPr/>
          <p:nvPr/>
        </p:nvSpPr>
        <p:spPr>
          <a:xfrm>
            <a:off x="502920" y="2660904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4" name="Shape 7"/>
          <p:cNvSpPr/>
          <p:nvPr/>
        </p:nvSpPr>
        <p:spPr>
          <a:xfrm>
            <a:off x="713232" y="2779776"/>
            <a:ext cx="603504" cy="603504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45" name="Image 1" descr="/home/claude/thesis_deck/icons/repea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88" y="2858232"/>
            <a:ext cx="446593" cy="446593"/>
          </a:xfrm>
          <a:prstGeom prst="rect">
            <a:avLst/>
          </a:prstGeom>
        </p:spPr>
      </p:pic>
      <p:sp>
        <p:nvSpPr>
          <p:cNvPr id="246" name="Text 8"/>
          <p:cNvSpPr/>
          <p:nvPr/>
        </p:nvSpPr>
        <p:spPr>
          <a:xfrm>
            <a:off x="1545336" y="2660904"/>
            <a:ext cx="54864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b="1" dirty="0">
              <a:solidFill>
                <a:srgbClr val="17A398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2368296" y="2660904"/>
            <a:ext cx="903767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separate models for Bangla→Chatgaya and Chatgaya→Bangla translation</a:t>
            </a:r>
            <a:endParaRPr lang="en-US" sz="1400" dirty="0"/>
          </a:p>
        </p:txBody>
      </p:sp>
      <p:sp>
        <p:nvSpPr>
          <p:cNvPr id="248" name="Shape 10"/>
          <p:cNvSpPr/>
          <p:nvPr/>
        </p:nvSpPr>
        <p:spPr>
          <a:xfrm>
            <a:off x="502920" y="3630168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9" name="Shape 11"/>
          <p:cNvSpPr/>
          <p:nvPr/>
        </p:nvSpPr>
        <p:spPr>
          <a:xfrm>
            <a:off x="713232" y="3749040"/>
            <a:ext cx="603504" cy="603504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50" name="Image 2" descr="/home/claude/thesis_deck/icons/mer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88" y="3827496"/>
            <a:ext cx="446593" cy="446593"/>
          </a:xfrm>
          <a:prstGeom prst="rect">
            <a:avLst/>
          </a:prstGeom>
        </p:spPr>
      </p:pic>
      <p:sp>
        <p:nvSpPr>
          <p:cNvPr id="251" name="Text 12"/>
          <p:cNvSpPr/>
          <p:nvPr/>
        </p:nvSpPr>
        <p:spPr>
          <a:xfrm>
            <a:off x="1545336" y="3630168"/>
            <a:ext cx="54864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E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b="1" dirty="0">
              <a:solidFill>
                <a:srgbClr val="2E5EAA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2368296" y="3630168"/>
            <a:ext cx="903767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Investigate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canonical vs. augmented datasets for low-resource dialect translation</a:t>
            </a:r>
            <a:endParaRPr lang="en-US" sz="1400" dirty="0"/>
          </a:p>
        </p:txBody>
      </p:sp>
      <p:sp>
        <p:nvSpPr>
          <p:cNvPr id="253" name="Shape 14"/>
          <p:cNvSpPr/>
          <p:nvPr/>
        </p:nvSpPr>
        <p:spPr>
          <a:xfrm>
            <a:off x="502920" y="4599432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4" name="Shape 15"/>
          <p:cNvSpPr/>
          <p:nvPr/>
        </p:nvSpPr>
        <p:spPr>
          <a:xfrm>
            <a:off x="713232" y="4718304"/>
            <a:ext cx="603504" cy="603504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55" name="Image 3" descr="/home/claude/thesis_deck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88" y="4796760"/>
            <a:ext cx="446593" cy="446593"/>
          </a:xfrm>
          <a:prstGeom prst="rect">
            <a:avLst/>
          </a:prstGeom>
        </p:spPr>
      </p:pic>
      <p:sp>
        <p:nvSpPr>
          <p:cNvPr id="256" name="Text 16"/>
          <p:cNvSpPr/>
          <p:nvPr/>
        </p:nvSpPr>
        <p:spPr>
          <a:xfrm>
            <a:off x="1545336" y="4599432"/>
            <a:ext cx="54864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600" b="1" dirty="0">
              <a:solidFill>
                <a:srgbClr val="17A398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2368296" y="4599432"/>
            <a:ext cx="903767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translation quality via automatic metrics and human evaluation</a:t>
            </a:r>
            <a:endParaRPr lang="en-US" sz="1400" dirty="0"/>
          </a:p>
        </p:txBody>
      </p:sp>
      <p:sp>
        <p:nvSpPr>
          <p:cNvPr id="258" name="Shape 18"/>
          <p:cNvSpPr/>
          <p:nvPr/>
        </p:nvSpPr>
        <p:spPr>
          <a:xfrm>
            <a:off x="502920" y="5568696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9" name="Shape 19"/>
          <p:cNvSpPr/>
          <p:nvPr/>
        </p:nvSpPr>
        <p:spPr>
          <a:xfrm>
            <a:off x="713232" y="5687568"/>
            <a:ext cx="603504" cy="603504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60" name="Image 4" descr="/home/claude/thesis_deck/icons/pho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88" y="5766024"/>
            <a:ext cx="446593" cy="446593"/>
          </a:xfrm>
          <a:prstGeom prst="rect">
            <a:avLst/>
          </a:prstGeom>
        </p:spPr>
      </p:pic>
      <p:sp>
        <p:nvSpPr>
          <p:cNvPr id="261" name="Text 20"/>
          <p:cNvSpPr/>
          <p:nvPr/>
        </p:nvSpPr>
        <p:spPr>
          <a:xfrm>
            <a:off x="1545336" y="5568696"/>
            <a:ext cx="54864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E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600" b="1" dirty="0">
              <a:solidFill>
                <a:srgbClr val="2E5EAA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262" name="Text 21"/>
          <p:cNvSpPr/>
          <p:nvPr/>
        </p:nvSpPr>
        <p:spPr>
          <a:xfrm>
            <a:off x="2368296" y="5568696"/>
            <a:ext cx="903767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 Flutter + FastAPI prototype for real-time bidirectional translation</a:t>
            </a:r>
            <a:endParaRPr lang="en-US" sz="1400" dirty="0"/>
          </a:p>
        </p:txBody>
      </p:sp>
      <p:sp>
        <p:nvSpPr>
          <p:cNvPr id="263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64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WHAT WE SET OUT TO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50468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38528"/>
            <a:ext cx="457200" cy="45720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6" name="Text 4"/>
          <p:cNvSpPr/>
          <p:nvPr/>
        </p:nvSpPr>
        <p:spPr>
          <a:xfrm>
            <a:off x="704088" y="193852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865376"/>
            <a:ext cx="4498848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effectively can a bidirectional NMT system be built between Standard Bangla and Chatgaya using mBART-50?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81344" y="1737360"/>
            <a:ext cx="550468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82512" y="1938528"/>
            <a:ext cx="457200" cy="45720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10" name="Text 8"/>
          <p:cNvSpPr/>
          <p:nvPr/>
        </p:nvSpPr>
        <p:spPr>
          <a:xfrm>
            <a:off x="6382512" y="193852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04304" y="1865376"/>
            <a:ext cx="4498848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effective is a manually curated parallel corpus for this low-resource dialect scenario?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550468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401568"/>
            <a:ext cx="457200" cy="45720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14" name="Text 12"/>
          <p:cNvSpPr/>
          <p:nvPr/>
        </p:nvSpPr>
        <p:spPr>
          <a:xfrm>
            <a:off x="704088" y="340156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328416"/>
            <a:ext cx="4498848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impact of lexicon-based data augmentation on both translation directions?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3200400"/>
            <a:ext cx="550468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3401568"/>
            <a:ext cx="457200" cy="45720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18" name="Text 16"/>
          <p:cNvSpPr/>
          <p:nvPr/>
        </p:nvSpPr>
        <p:spPr>
          <a:xfrm>
            <a:off x="6382512" y="340156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04304" y="3328416"/>
            <a:ext cx="4498848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standard vs. augmented models compare on BLEU and chrF?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550468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4864608"/>
            <a:ext cx="457200" cy="45720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22" name="Text 20"/>
          <p:cNvSpPr/>
          <p:nvPr/>
        </p:nvSpPr>
        <p:spPr>
          <a:xfrm>
            <a:off x="704088" y="48646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RQ5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4791456"/>
            <a:ext cx="4498848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 native Chatgaya speakers perceive about translation quality &amp; naturalness?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4663440"/>
            <a:ext cx="5504688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4864608"/>
            <a:ext cx="457200" cy="45720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26" name="Text 24"/>
          <p:cNvSpPr/>
          <p:nvPr/>
        </p:nvSpPr>
        <p:spPr>
          <a:xfrm>
            <a:off x="6382512" y="48646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RQ6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4791456"/>
            <a:ext cx="4498848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the models be integrated into a practical mobile application?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POSITIONING THIS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1B2A4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106070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work has focused on rule-based conversion, benchmark datasets, or multilingual comparisons — but dedicated bidirectional NMT for Chatgaya using a manually verified corpus remains largely unexplored.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2706624" cy="2651760"/>
          </a:xfrm>
          <a:prstGeom prst="roundRect">
            <a:avLst>
              <a:gd name="adj" fmla="val 310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3264408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8" name="Text 6"/>
          <p:cNvSpPr/>
          <p:nvPr/>
        </p:nvSpPr>
        <p:spPr>
          <a:xfrm>
            <a:off x="704088" y="3447288"/>
            <a:ext cx="23042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Hossain et al. (2022)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3977640"/>
            <a:ext cx="2304288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bidirectional conversion — limited scalability &amp; generalization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2424" y="3063240"/>
            <a:ext cx="2706624" cy="2651760"/>
          </a:xfrm>
          <a:prstGeom prst="roundRect">
            <a:avLst>
              <a:gd name="adj" fmla="val 310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3264408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12" name="Text 10"/>
          <p:cNvSpPr/>
          <p:nvPr/>
        </p:nvSpPr>
        <p:spPr>
          <a:xfrm>
            <a:off x="3593592" y="3447288"/>
            <a:ext cx="23042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ChatgaiyyaAlap (2025)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3977640"/>
            <a:ext cx="2304288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4,012-pair public dataset — social-media sourced, limited diversity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81928" y="3063240"/>
            <a:ext cx="2706624" cy="2651760"/>
          </a:xfrm>
          <a:prstGeom prst="roundRect">
            <a:avLst>
              <a:gd name="adj" fmla="val 310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096" y="3264408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16" name="Text 14"/>
          <p:cNvSpPr/>
          <p:nvPr/>
        </p:nvSpPr>
        <p:spPr>
          <a:xfrm>
            <a:off x="6483096" y="3447288"/>
            <a:ext cx="23042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Vashantor (2025)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3096" y="3977640"/>
            <a:ext cx="2304288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32,500-pair multilingual benchmark across 5 dialects — not Chatgaya-focused NMT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71432" y="3063240"/>
            <a:ext cx="2706624" cy="2651760"/>
          </a:xfrm>
          <a:prstGeom prst="roundRect">
            <a:avLst>
              <a:gd name="adj" fmla="val 3103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72600" y="3264408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17A398"/>
          </a:solidFill>
        </p:spPr>
      </p:sp>
      <p:sp>
        <p:nvSpPr>
          <p:cNvPr id="20" name="Text 18"/>
          <p:cNvSpPr/>
          <p:nvPr/>
        </p:nvSpPr>
        <p:spPr>
          <a:xfrm>
            <a:off x="9372600" y="3447288"/>
            <a:ext cx="23042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Kothon (2026)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3977640"/>
            <a:ext cx="2304288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8,000 Chittagonian pairs — dataset-centric, not a fine-tuned bidirectional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METHODOLOGY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Research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3200400"/>
            <a:ext cx="9994392" cy="0"/>
          </a:xfrm>
          <a:prstGeom prst="line">
            <a:avLst/>
          </a:prstGeom>
          <a:noFill/>
          <a:ln w="3810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944368"/>
            <a:ext cx="512064" cy="51206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44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" y="2743200"/>
            <a:ext cx="0" cy="201168"/>
          </a:xfrm>
          <a:prstGeom prst="line">
            <a:avLst/>
          </a:prstGeom>
          <a:noFill/>
          <a:ln w="19050">
            <a:solidFill>
              <a:srgbClr val="E1E6E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-41148" y="132588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" y="1417320"/>
            <a:ext cx="15636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" y="1673352"/>
            <a:ext cx="156362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Development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" y="2057400"/>
            <a:ext cx="156362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Canonical dataset, lexicon, native-speaker survey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94406" y="2944368"/>
            <a:ext cx="512064" cy="512064"/>
          </a:xfrm>
          <a:prstGeom prst="ellipse">
            <a:avLst/>
          </a:prstGeom>
          <a:solidFill>
            <a:srgbClr val="2E5E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4406" y="2944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50438" y="3456432"/>
            <a:ext cx="0" cy="201168"/>
          </a:xfrm>
          <a:prstGeom prst="line">
            <a:avLst/>
          </a:prstGeom>
          <a:noFill/>
          <a:ln w="19050">
            <a:solidFill>
              <a:srgbClr val="E1E6E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158898" y="36576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68626" y="3749040"/>
            <a:ext cx="15636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68626" y="4005072"/>
            <a:ext cx="156362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Preparation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68626" y="4389120"/>
            <a:ext cx="156362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datasets, 80:10:10 split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94453" y="2944368"/>
            <a:ext cx="512064" cy="51206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4453" y="2944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50485" y="2743200"/>
            <a:ext cx="0" cy="201168"/>
          </a:xfrm>
          <a:prstGeom prst="line">
            <a:avLst/>
          </a:prstGeom>
          <a:noFill/>
          <a:ln w="19050">
            <a:solidFill>
              <a:srgbClr val="E1E6E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358945" y="132588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68673" y="1417320"/>
            <a:ext cx="15636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68673" y="1673352"/>
            <a:ext cx="156362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68673" y="2057400"/>
            <a:ext cx="156362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Lexicon-based training-set augmentation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94499" y="2944368"/>
            <a:ext cx="512064" cy="512064"/>
          </a:xfrm>
          <a:prstGeom prst="ellipse">
            <a:avLst/>
          </a:prstGeom>
          <a:solidFill>
            <a:srgbClr val="2E5E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4499" y="2944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50531" y="3456432"/>
            <a:ext cx="0" cy="201168"/>
          </a:xfrm>
          <a:prstGeom prst="line">
            <a:avLst/>
          </a:prstGeom>
          <a:noFill/>
          <a:ln w="19050">
            <a:solidFill>
              <a:srgbClr val="E1E6E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558991" y="36576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68719" y="3749040"/>
            <a:ext cx="15636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68719" y="4005072"/>
            <a:ext cx="156362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Fine-Tuning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68719" y="4389120"/>
            <a:ext cx="156362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mBART-50 experiments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94546" y="2944368"/>
            <a:ext cx="512064" cy="51206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94546" y="2944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650578" y="2743200"/>
            <a:ext cx="0" cy="201168"/>
          </a:xfrm>
          <a:prstGeom prst="line">
            <a:avLst/>
          </a:prstGeom>
          <a:noFill/>
          <a:ln w="19050">
            <a:solidFill>
              <a:srgbClr val="E1E6E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8759038" y="132588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868766" y="1417320"/>
            <a:ext cx="15636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868766" y="1673352"/>
            <a:ext cx="156362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68766" y="2057400"/>
            <a:ext cx="156362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BLEU, chrF, human evaluation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198352" y="2944368"/>
            <a:ext cx="512064" cy="512064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08512" y="2944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454384" y="3456432"/>
            <a:ext cx="0" cy="201168"/>
          </a:xfrm>
          <a:prstGeom prst="line">
            <a:avLst/>
          </a:prstGeom>
          <a:noFill/>
          <a:ln w="19050">
            <a:solidFill>
              <a:srgbClr val="E1E6ED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0562844" y="36576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784332" y="3749040"/>
            <a:ext cx="15636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53852" y="4005072"/>
            <a:ext cx="156362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764012" y="4389120"/>
            <a:ext cx="156362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Flutter prototype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867400"/>
            <a:ext cx="11183112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02920" y="5836920"/>
            <a:ext cx="1118311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2,020-pair canonical corpus → 4 fine-tuned mBART-50 models → deployed translation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765" y="25527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METHODOLOGY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9865" y="535305"/>
            <a:ext cx="11191240" cy="790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Diagram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10</a:t>
            </a:r>
            <a:endParaRPr lang="en-US" sz="900" dirty="0"/>
          </a:p>
        </p:txBody>
      </p:sp>
      <p:pic>
        <p:nvPicPr>
          <p:cNvPr id="51" name="Picture 50" descr="work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8410" y="90805"/>
            <a:ext cx="4906645" cy="67671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BUILDING THE CORPUS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911096"/>
            <a:ext cx="566928" cy="566928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6" name="Image 0" descr="/home/claude/thesi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077" y="198479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42519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Canonical 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" y="2560320"/>
            <a:ext cx="4983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2,020 manually created Bangla–Chatgaya sentence pairs across 10 balanced semantic categories (greetings, daily life, family, travel, etc.)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911096"/>
            <a:ext cx="566928" cy="566928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11" name="Image 1" descr="/home/claude/thesis_deck/icons/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509" y="1984797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11096"/>
            <a:ext cx="42519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Lexicon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64808" y="2560320"/>
            <a:ext cx="4983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 semantic entries capturing multiple Chatgaya lexical variants for the same Bangla word, drawn from 5 Chattogram regions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959352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4178808"/>
            <a:ext cx="566928" cy="566928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16" name="Image 2" descr="/home/claude/thesis_deck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77" y="425250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78808"/>
            <a:ext cx="42519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Speaker Validation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22376" y="4828032"/>
            <a:ext cx="4983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domain-specific Google Form surveys (Eating &amp; Food; Work &amp; Shopping) — 44 total responses from native speakers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45352" y="3959352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178808"/>
            <a:ext cx="566928" cy="566928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1" name="Image 3" descr="/home/claude/thesi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09" y="425250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4178808"/>
            <a:ext cx="425196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Verification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64808" y="4828032"/>
            <a:ext cx="4983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review + automated cleaning; 20 pairs added to cover under-represented words — corpus grown from 2,000 to 2,020 pairs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EXPANDING TRAINING DIVERSITY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Lexicon-Based Data Augmentation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075688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920240"/>
            <a:ext cx="185623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Set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(1,616 pairs)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78608" y="1920240"/>
            <a:ext cx="201168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79776" y="1920240"/>
            <a:ext cx="207568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9504" y="1920240"/>
            <a:ext cx="185623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Chatgaya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via Lexicon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55464" y="1920240"/>
            <a:ext cx="201168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56632" y="1920240"/>
            <a:ext cx="207568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1920240"/>
            <a:ext cx="185623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with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Alternative Variants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201168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33488" y="1920240"/>
            <a:ext cx="207568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43216" y="1920240"/>
            <a:ext cx="185623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 + Remove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09176" y="1920240"/>
            <a:ext cx="201168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10344" y="1920240"/>
            <a:ext cx="2075688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20072" y="1920240"/>
            <a:ext cx="185623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Set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(2,507 pairs)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11480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1,616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2414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training pairs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74136" y="397764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74136" y="411480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2,596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511296" y="4846320"/>
            <a:ext cx="2414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Newly generated pairs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397764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45352" y="411480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82512" y="4846320"/>
            <a:ext cx="2414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Duplicates removed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16568" y="397764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16568" y="411480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+891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253728" y="4846320"/>
            <a:ext cx="2414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new pairs added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5623560"/>
            <a:ext cx="1118311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exclusively to the training set — validation &amp; test sets remain untouched to avoid data leakage.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MODEL DESIGN</a:t>
            </a:r>
            <a:endParaRPr lang="en-US" sz="1200" dirty="0"/>
          </a:p>
        </p:txBody>
      </p:sp>
      <p:sp>
        <p:nvSpPr>
          <p:cNvPr id="32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Fine-Tuned mBART-50 Architecture</a:t>
            </a:r>
            <a:endParaRPr lang="en-US" sz="3200" dirty="0"/>
          </a:p>
        </p:txBody>
      </p:sp>
      <p:sp>
        <p:nvSpPr>
          <p:cNvPr id="61" name="Diagram Frame"/>
          <p:cNvSpPr/>
          <p:nvPr/>
        </p:nvSpPr>
        <p:spPr>
          <a:xfrm>
            <a:off x="457200" y="1691640"/>
            <a:ext cx="11274552" cy="4361688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2" name="Source bg"/>
          <p:cNvSpPr/>
          <p:nvPr/>
        </p:nvSpPr>
        <p:spPr>
          <a:xfrm>
            <a:off x="1234440" y="2011680"/>
            <a:ext cx="5120640" cy="47548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3" name="Source icon bg"/>
          <p:cNvSpPr/>
          <p:nvPr/>
        </p:nvSpPr>
        <p:spPr>
          <a:xfrm>
            <a:off x="1380744" y="2057400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64" name="Sourc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916" y="2149572"/>
            <a:ext cx="199705" cy="199705"/>
          </a:xfrm>
          <a:prstGeom prst="rect">
            <a:avLst/>
          </a:prstGeom>
        </p:spPr>
      </p:pic>
      <p:sp>
        <p:nvSpPr>
          <p:cNvPr id="65" name="Source title"/>
          <p:cNvSpPr/>
          <p:nvPr/>
        </p:nvSpPr>
        <p:spPr>
          <a:xfrm>
            <a:off x="1911096" y="2011680"/>
            <a:ext cx="4306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Sentence</a:t>
            </a:r>
            <a:endParaRPr lang="en-US" sz="1350" dirty="0"/>
          </a:p>
        </p:txBody>
      </p:sp>
      <p:sp>
        <p:nvSpPr>
          <p:cNvPr id="66" name="Source subtitle"/>
          <p:cNvSpPr/>
          <p:nvPr/>
        </p:nvSpPr>
        <p:spPr>
          <a:xfrm>
            <a:off x="1234440" y="2011680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Bangla / Chatgaya</a:t>
            </a:r>
            <a:endParaRPr lang="en-US" sz="1050" dirty="0"/>
          </a:p>
        </p:txBody>
      </p:sp>
      <p:sp>
        <p:nvSpPr>
          <p:cNvPr id="67" name="conn1 node"/>
          <p:cNvSpPr/>
          <p:nvPr/>
        </p:nvSpPr>
        <p:spPr>
          <a:xfrm>
            <a:off x="3762756" y="2487168"/>
            <a:ext cx="64008" cy="64008"/>
          </a:xfrm>
          <a:prstGeom prst="ellipse">
            <a:avLst/>
          </a:prstGeom>
          <a:solidFill>
            <a:srgbClr val="8A93A3"/>
          </a:solidFill>
        </p:spPr>
      </p:sp>
      <p:sp>
        <p:nvSpPr>
          <p:cNvPr id="68" name="conn1 line"/>
          <p:cNvSpPr/>
          <p:nvPr/>
        </p:nvSpPr>
        <p:spPr>
          <a:xfrm>
            <a:off x="3794760" y="2525573"/>
            <a:ext cx="0" cy="126187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 w="med" len="med"/>
          </a:ln>
        </p:spPr>
      </p:sp>
      <p:sp>
        <p:nvSpPr>
          <p:cNvPr id="69" name="Tokenizer bg"/>
          <p:cNvSpPr/>
          <p:nvPr/>
        </p:nvSpPr>
        <p:spPr>
          <a:xfrm>
            <a:off x="1234440" y="2651760"/>
            <a:ext cx="5120640" cy="47548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0" name="Tokenizer icon bg"/>
          <p:cNvSpPr/>
          <p:nvPr/>
        </p:nvSpPr>
        <p:spPr>
          <a:xfrm>
            <a:off x="1380744" y="2697480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71" name="Tokenize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916" y="2789652"/>
            <a:ext cx="199705" cy="199705"/>
          </a:xfrm>
          <a:prstGeom prst="rect">
            <a:avLst/>
          </a:prstGeom>
        </p:spPr>
      </p:pic>
      <p:sp>
        <p:nvSpPr>
          <p:cNvPr id="72" name="Tokenizer title"/>
          <p:cNvSpPr/>
          <p:nvPr/>
        </p:nvSpPr>
        <p:spPr>
          <a:xfrm>
            <a:off x="1911096" y="2651760"/>
            <a:ext cx="4306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mBART-50 Tokenizer</a:t>
            </a:r>
            <a:endParaRPr lang="en-US" sz="1350" dirty="0"/>
          </a:p>
        </p:txBody>
      </p:sp>
      <p:sp>
        <p:nvSpPr>
          <p:cNvPr id="73" name="Tokenizer subtitle"/>
          <p:cNvSpPr/>
          <p:nvPr/>
        </p:nvSpPr>
        <p:spPr>
          <a:xfrm>
            <a:off x="1234440" y="2651760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Subword tokenization</a:t>
            </a:r>
            <a:endParaRPr lang="en-US" sz="1050" dirty="0"/>
          </a:p>
        </p:txBody>
      </p:sp>
      <p:sp>
        <p:nvSpPr>
          <p:cNvPr id="74" name="conn2 node"/>
          <p:cNvSpPr/>
          <p:nvPr/>
        </p:nvSpPr>
        <p:spPr>
          <a:xfrm>
            <a:off x="3762756" y="3127248"/>
            <a:ext cx="64008" cy="64008"/>
          </a:xfrm>
          <a:prstGeom prst="ellipse">
            <a:avLst/>
          </a:prstGeom>
          <a:solidFill>
            <a:srgbClr val="8A93A3"/>
          </a:solidFill>
        </p:spPr>
      </p:sp>
      <p:sp>
        <p:nvSpPr>
          <p:cNvPr id="75" name="conn2 line"/>
          <p:cNvSpPr/>
          <p:nvPr/>
        </p:nvSpPr>
        <p:spPr>
          <a:xfrm>
            <a:off x="3794760" y="3165653"/>
            <a:ext cx="0" cy="126187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 w="med" len="med"/>
          </a:ln>
        </p:spPr>
      </p:sp>
      <p:sp>
        <p:nvSpPr>
          <p:cNvPr id="76" name="Core Band"/>
          <p:cNvSpPr/>
          <p:nvPr/>
        </p:nvSpPr>
        <p:spPr>
          <a:xfrm>
            <a:off x="1234440" y="3291840"/>
            <a:ext cx="512064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5875">
            <a:solidFill>
              <a:srgbClr val="2E5EA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7" name="Encoder bg"/>
          <p:cNvSpPr/>
          <p:nvPr/>
        </p:nvSpPr>
        <p:spPr>
          <a:xfrm>
            <a:off x="1234440" y="3419856"/>
            <a:ext cx="5120640" cy="530352"/>
          </a:xfrm>
          <a:prstGeom prst="roundRect">
            <a:avLst>
              <a:gd name="adj" fmla="val 10976"/>
            </a:avLst>
          </a:prstGeom>
          <a:solidFill>
            <a:srgbClr val="2E5EAA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8" name="Encoder icon bg"/>
          <p:cNvSpPr/>
          <p:nvPr/>
        </p:nvSpPr>
        <p:spPr>
          <a:xfrm>
            <a:off x="1380744" y="3493008"/>
            <a:ext cx="384048" cy="38404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9" name="Enco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916" y="3585180"/>
            <a:ext cx="199705" cy="199705"/>
          </a:xfrm>
          <a:prstGeom prst="rect">
            <a:avLst/>
          </a:prstGeom>
        </p:spPr>
      </p:pic>
      <p:sp>
        <p:nvSpPr>
          <p:cNvPr id="80" name="Encoder title"/>
          <p:cNvSpPr/>
          <p:nvPr/>
        </p:nvSpPr>
        <p:spPr>
          <a:xfrm>
            <a:off x="1911096" y="3419856"/>
            <a:ext cx="43068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Pretrained Encoder</a:t>
            </a:r>
            <a:endParaRPr lang="en-US" sz="1350" dirty="0"/>
          </a:p>
        </p:txBody>
      </p:sp>
      <p:sp>
        <p:nvSpPr>
          <p:cNvPr id="81" name="Encoder subtitle"/>
          <p:cNvSpPr/>
          <p:nvPr/>
        </p:nvSpPr>
        <p:spPr>
          <a:xfrm>
            <a:off x="1234440" y="3419856"/>
            <a:ext cx="4937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Contextual representations</a:t>
            </a:r>
            <a:endParaRPr lang="en-US" sz="1050" dirty="0"/>
          </a:p>
        </p:txBody>
      </p:sp>
      <p:sp>
        <p:nvSpPr>
          <p:cNvPr id="82" name="conn_ed node"/>
          <p:cNvSpPr/>
          <p:nvPr/>
        </p:nvSpPr>
        <p:spPr>
          <a:xfrm>
            <a:off x="3762756" y="3950208"/>
            <a:ext cx="64008" cy="64008"/>
          </a:xfrm>
          <a:prstGeom prst="ellipse">
            <a:avLst/>
          </a:prstGeom>
          <a:solidFill>
            <a:srgbClr val="8A93A3"/>
          </a:solidFill>
        </p:spPr>
      </p:sp>
      <p:sp>
        <p:nvSpPr>
          <p:cNvPr id="83" name="conn_ed line"/>
          <p:cNvSpPr/>
          <p:nvPr/>
        </p:nvSpPr>
        <p:spPr>
          <a:xfrm>
            <a:off x="3794760" y="3988613"/>
            <a:ext cx="0" cy="162763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 w="med" len="med"/>
          </a:ln>
        </p:spPr>
      </p:sp>
      <p:sp>
        <p:nvSpPr>
          <p:cNvPr id="84" name="Decoder bg"/>
          <p:cNvSpPr/>
          <p:nvPr/>
        </p:nvSpPr>
        <p:spPr>
          <a:xfrm>
            <a:off x="1234440" y="4151376"/>
            <a:ext cx="5120640" cy="530352"/>
          </a:xfrm>
          <a:prstGeom prst="roundRect">
            <a:avLst>
              <a:gd name="adj" fmla="val 10976"/>
            </a:avLst>
          </a:prstGeom>
          <a:solidFill>
            <a:srgbClr val="2E5EAA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85" name="Decoder icon bg"/>
          <p:cNvSpPr/>
          <p:nvPr/>
        </p:nvSpPr>
        <p:spPr>
          <a:xfrm>
            <a:off x="1380744" y="4224528"/>
            <a:ext cx="384048" cy="38404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86" name="Decod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916" y="4316700"/>
            <a:ext cx="199705" cy="199705"/>
          </a:xfrm>
          <a:prstGeom prst="rect">
            <a:avLst/>
          </a:prstGeom>
        </p:spPr>
      </p:pic>
      <p:sp>
        <p:nvSpPr>
          <p:cNvPr id="87" name="Decoder title"/>
          <p:cNvSpPr/>
          <p:nvPr/>
        </p:nvSpPr>
        <p:spPr>
          <a:xfrm>
            <a:off x="1911096" y="4151376"/>
            <a:ext cx="43068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Pretrained Decoder</a:t>
            </a:r>
            <a:endParaRPr lang="en-US" sz="1350" dirty="0"/>
          </a:p>
        </p:txBody>
      </p:sp>
      <p:sp>
        <p:nvSpPr>
          <p:cNvPr id="88" name="Decoder subtitle"/>
          <p:cNvSpPr/>
          <p:nvPr/>
        </p:nvSpPr>
        <p:spPr>
          <a:xfrm>
            <a:off x="1234440" y="4151376"/>
            <a:ext cx="4937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Autoregressive generation</a:t>
            </a:r>
            <a:endParaRPr lang="en-US" sz="1050" dirty="0"/>
          </a:p>
        </p:txBody>
      </p:sp>
      <p:sp>
        <p:nvSpPr>
          <p:cNvPr id="89" name="conn3 node"/>
          <p:cNvSpPr/>
          <p:nvPr/>
        </p:nvSpPr>
        <p:spPr>
          <a:xfrm>
            <a:off x="3762756" y="4846320"/>
            <a:ext cx="64008" cy="64008"/>
          </a:xfrm>
          <a:prstGeom prst="ellipse">
            <a:avLst/>
          </a:prstGeom>
          <a:solidFill>
            <a:srgbClr val="8A93A3"/>
          </a:solidFill>
        </p:spPr>
      </p:sp>
      <p:sp>
        <p:nvSpPr>
          <p:cNvPr id="90" name="conn3 line"/>
          <p:cNvSpPr/>
          <p:nvPr/>
        </p:nvSpPr>
        <p:spPr>
          <a:xfrm>
            <a:off x="3794760" y="4884725"/>
            <a:ext cx="0" cy="162763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 w="med" len="med"/>
          </a:ln>
        </p:spPr>
      </p:sp>
      <p:sp>
        <p:nvSpPr>
          <p:cNvPr id="91" name="Output bg"/>
          <p:cNvSpPr/>
          <p:nvPr/>
        </p:nvSpPr>
        <p:spPr>
          <a:xfrm>
            <a:off x="1234440" y="5047488"/>
            <a:ext cx="5120640" cy="685800"/>
          </a:xfrm>
          <a:prstGeom prst="roundRect">
            <a:avLst>
              <a:gd name="adj" fmla="val 10976"/>
            </a:avLst>
          </a:prstGeom>
          <a:solidFill>
            <a:srgbClr val="17A398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2" name="Output icon bg"/>
          <p:cNvSpPr/>
          <p:nvPr/>
        </p:nvSpPr>
        <p:spPr>
          <a:xfrm>
            <a:off x="1380744" y="5161788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93" name="Outpu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472" y="5271516"/>
            <a:ext cx="237744" cy="237744"/>
          </a:xfrm>
          <a:prstGeom prst="rect">
            <a:avLst/>
          </a:prstGeom>
        </p:spPr>
      </p:pic>
      <p:sp>
        <p:nvSpPr>
          <p:cNvPr id="94" name="Output title"/>
          <p:cNvSpPr/>
          <p:nvPr/>
        </p:nvSpPr>
        <p:spPr>
          <a:xfrm>
            <a:off x="1984248" y="5047488"/>
            <a:ext cx="423367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Translation</a:t>
            </a:r>
            <a:endParaRPr lang="en-US" sz="1500" dirty="0"/>
          </a:p>
        </p:txBody>
      </p:sp>
      <p:sp>
        <p:nvSpPr>
          <p:cNvPr id="95" name="Output subtitle"/>
          <p:cNvSpPr/>
          <p:nvPr/>
        </p:nvSpPr>
        <p:spPr>
          <a:xfrm>
            <a:off x="1234440" y="5047488"/>
            <a:ext cx="4937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Chatgaya / Standard Bangla</a:t>
            </a:r>
            <a:endParaRPr lang="en-US" sz="1100" dirty="0"/>
          </a:p>
        </p:txBody>
      </p:sp>
      <p:sp>
        <p:nvSpPr>
          <p:cNvPr id="96" name="Panel bg"/>
          <p:cNvSpPr/>
          <p:nvPr/>
        </p:nvSpPr>
        <p:spPr>
          <a:xfrm>
            <a:off x="7132320" y="3127248"/>
            <a:ext cx="4279392" cy="2606040"/>
          </a:xfrm>
          <a:prstGeom prst="roundRect">
            <a:avLst>
              <a:gd name="adj" fmla="val 3214"/>
            </a:avLst>
          </a:prstGeom>
          <a:solidFill>
            <a:srgbClr val="1B2A4A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7" name="panel conn node"/>
          <p:cNvSpPr/>
          <p:nvPr/>
        </p:nvSpPr>
        <p:spPr>
          <a:xfrm>
            <a:off x="6323076" y="4037076"/>
            <a:ext cx="64008" cy="64008"/>
          </a:xfrm>
          <a:prstGeom prst="ellipse">
            <a:avLst/>
          </a:prstGeom>
          <a:solidFill>
            <a:srgbClr val="2E5EAA"/>
          </a:solidFill>
        </p:spPr>
      </p:sp>
      <p:sp>
        <p:nvSpPr>
          <p:cNvPr id="98" name="panel conn line"/>
          <p:cNvSpPr/>
          <p:nvPr/>
        </p:nvSpPr>
        <p:spPr>
          <a:xfrm>
            <a:off x="6382512" y="4069080"/>
            <a:ext cx="749808" cy="0"/>
          </a:xfrm>
          <a:prstGeom prst="line">
            <a:avLst/>
          </a:prstGeom>
          <a:noFill/>
          <a:ln w="15875">
            <a:solidFill>
              <a:srgbClr val="2E5EAA"/>
            </a:solidFill>
            <a:prstDash val="solid"/>
            <a:tailEnd type="triangle" w="med" len="med"/>
          </a:ln>
        </p:spPr>
      </p:sp>
      <p:sp>
        <p:nvSpPr>
          <p:cNvPr id="99" name="panel icon bg"/>
          <p:cNvSpPr/>
          <p:nvPr/>
        </p:nvSpPr>
        <p:spPr>
          <a:xfrm>
            <a:off x="7388352" y="3383280"/>
            <a:ext cx="384048" cy="384048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00" name="pane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524" y="3475452"/>
            <a:ext cx="199705" cy="199705"/>
          </a:xfrm>
          <a:prstGeom prst="rect">
            <a:avLst/>
          </a:prstGeom>
        </p:spPr>
      </p:pic>
      <p:sp>
        <p:nvSpPr>
          <p:cNvPr id="101" name="panel title"/>
          <p:cNvSpPr/>
          <p:nvPr/>
        </p:nvSpPr>
        <p:spPr>
          <a:xfrm>
            <a:off x="7918704" y="3337560"/>
            <a:ext cx="33649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 Setup</a:t>
            </a:r>
            <a:endParaRPr lang="en-US" sz="1300" dirty="0"/>
          </a:p>
        </p:txBody>
      </p:sp>
      <p:sp>
        <p:nvSpPr>
          <p:cNvPr id="102" name="panel bullets"/>
          <p:cNvSpPr/>
          <p:nvPr/>
        </p:nvSpPr>
        <p:spPr>
          <a:xfrm>
            <a:off x="7406640" y="3968496"/>
            <a:ext cx="3730752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mBART-50 architecture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vs. augmented datasets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BN→CTG and CTG→BN directions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independent fine-tuned models</a:t>
            </a:r>
            <a:endParaRPr lang="en-US" sz="1050" dirty="0"/>
          </a:p>
        </p:txBody>
      </p:sp>
      <p:sp>
        <p:nvSpPr>
          <p:cNvPr id="55" name="Text 2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56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FOUR CONTROLLED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Experimental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88336" cy="40233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2688336" cy="685800"/>
          </a:xfrm>
          <a:prstGeom prst="roundRect">
            <a:avLst>
              <a:gd name="adj" fmla="val 12000"/>
            </a:avLst>
          </a:prstGeom>
          <a:solidFill>
            <a:srgbClr val="2E5EAA"/>
          </a:solidFill>
        </p:spPr>
      </p:sp>
      <p:sp>
        <p:nvSpPr>
          <p:cNvPr id="6" name="Text 4"/>
          <p:cNvSpPr/>
          <p:nvPr/>
        </p:nvSpPr>
        <p:spPr>
          <a:xfrm>
            <a:off x="502920" y="169164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2257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Bangla → Chatgaya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2322576" cy="384048"/>
          </a:xfrm>
          <a:prstGeom prst="roundRect">
            <a:avLst>
              <a:gd name="adj" fmla="val 47619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83280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232257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1691640"/>
            <a:ext cx="2688336" cy="40233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4136" y="1691640"/>
            <a:ext cx="2688336" cy="685800"/>
          </a:xfrm>
          <a:prstGeom prst="roundRect">
            <a:avLst>
              <a:gd name="adj" fmla="val 12000"/>
            </a:avLst>
          </a:prstGeom>
          <a:solidFill>
            <a:srgbClr val="17A398"/>
          </a:solidFill>
        </p:spPr>
      </p:sp>
      <p:sp>
        <p:nvSpPr>
          <p:cNvPr id="13" name="Text 11"/>
          <p:cNvSpPr/>
          <p:nvPr/>
        </p:nvSpPr>
        <p:spPr>
          <a:xfrm>
            <a:off x="3374136" y="169164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57016" y="2560320"/>
            <a:ext cx="232257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Bangla → Chatgaya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57016" y="3383280"/>
            <a:ext cx="2322576" cy="384048"/>
          </a:xfrm>
          <a:prstGeom prst="roundRect">
            <a:avLst>
              <a:gd name="adj" fmla="val 47619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3383280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Augmented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57016" y="3977640"/>
            <a:ext cx="232257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 augmentation impact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5352" y="1691640"/>
            <a:ext cx="2688336" cy="40233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1691640"/>
            <a:ext cx="2688336" cy="685800"/>
          </a:xfrm>
          <a:prstGeom prst="roundRect">
            <a:avLst>
              <a:gd name="adj" fmla="val 12000"/>
            </a:avLst>
          </a:prstGeom>
          <a:solidFill>
            <a:srgbClr val="2E5EAA"/>
          </a:solidFill>
        </p:spPr>
      </p:sp>
      <p:sp>
        <p:nvSpPr>
          <p:cNvPr id="20" name="Text 18"/>
          <p:cNvSpPr/>
          <p:nvPr/>
        </p:nvSpPr>
        <p:spPr>
          <a:xfrm>
            <a:off x="6245352" y="169164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28232" y="2560320"/>
            <a:ext cx="232257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Chatgaya → Standard Bangla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28232" y="3383280"/>
            <a:ext cx="2322576" cy="384048"/>
          </a:xfrm>
          <a:prstGeom prst="roundRect">
            <a:avLst>
              <a:gd name="adj" fmla="val 47619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383280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Dataset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28232" y="3977640"/>
            <a:ext cx="232257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16568" y="1691640"/>
            <a:ext cx="2688336" cy="40233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16568" y="1691640"/>
            <a:ext cx="2688336" cy="685800"/>
          </a:xfrm>
          <a:prstGeom prst="roundRect">
            <a:avLst>
              <a:gd name="adj" fmla="val 12000"/>
            </a:avLst>
          </a:prstGeom>
          <a:solidFill>
            <a:srgbClr val="17A398"/>
          </a:solidFill>
        </p:spPr>
      </p:sp>
      <p:sp>
        <p:nvSpPr>
          <p:cNvPr id="27" name="Text 25"/>
          <p:cNvSpPr/>
          <p:nvPr/>
        </p:nvSpPr>
        <p:spPr>
          <a:xfrm>
            <a:off x="9116568" y="1691640"/>
            <a:ext cx="26883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99448" y="2560320"/>
            <a:ext cx="232257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Chatgaya → Standard Bangla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99448" y="3383280"/>
            <a:ext cx="2322576" cy="384048"/>
          </a:xfrm>
          <a:prstGeom prst="roundRect">
            <a:avLst>
              <a:gd name="adj" fmla="val 47619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9448" y="3383280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Augmented Dataset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99448" y="3977640"/>
            <a:ext cx="232257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 augmentation impact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 share the same pretrained mBART-50 architecture, tokenizer, and training pipeline — only translation direction and training dataset vary.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FINE-TUNING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Pretrained Model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23260" y="192024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facebook/mbart-large-50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57860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9748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23260" y="269748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 Face Seq2SeqTrainer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5584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7472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23260" y="347472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13308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5196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23260" y="425196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91032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920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Rate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23260" y="502920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× 10⁻⁵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169164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9672" y="192024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Size (Train / Val)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5692" y="192024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19672" y="257860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69748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Accumulation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5692" y="269748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steps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19672" y="335584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47472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Strategy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65692" y="347472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every epoch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19672" y="413308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425196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5692" y="425196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validation loss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19672" y="4910328"/>
            <a:ext cx="4892040" cy="0"/>
          </a:xfrm>
          <a:prstGeom prst="line">
            <a:avLst/>
          </a:prstGeom>
          <a:noFill/>
          <a:ln w="9525">
            <a:solidFill>
              <a:srgbClr val="E1E6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5029200"/>
            <a:ext cx="299237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Seed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65692" y="5029200"/>
            <a:ext cx="255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MEASURING TRANSLATION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057400"/>
            <a:ext cx="822960" cy="822960"/>
          </a:xfrm>
          <a:prstGeom prst="ellipse">
            <a:avLst/>
          </a:prstGeom>
          <a:solidFill>
            <a:srgbClr val="2E5EAA"/>
          </a:solidFill>
        </p:spPr>
      </p:sp>
      <p:sp>
        <p:nvSpPr>
          <p:cNvPr id="7" name="Text 4"/>
          <p:cNvSpPr/>
          <p:nvPr/>
        </p:nvSpPr>
        <p:spPr>
          <a:xfrm>
            <a:off x="685800" y="3063240"/>
            <a:ext cx="3246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BLEU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97180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N-gram overlap between generated and reference translations — computed via sacreBLEU on the held-out test 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7373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2996" y="2057400"/>
            <a:ext cx="822960" cy="82296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1" name="Image 1" descr="/home/claude/thesis_deck/icons/targe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81" y="21643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3063240"/>
            <a:ext cx="3246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chrF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08576" y="3611880"/>
            <a:ext cx="297180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Character-level F-score, particularly suitable for morphologically rich, low-resource languages like Chatgaya.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74152" y="17373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68612" y="2057400"/>
            <a:ext cx="822960" cy="822960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16" name="Image 2" descr="/home/claude/thesis_deck/icons/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597" y="216438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7032" y="3063240"/>
            <a:ext cx="3246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Evaluation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94192" y="3611880"/>
            <a:ext cx="297180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4–5 native Chatgaya speakers manually assessed translation accuracy and semantic correctness.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  <p:pic>
        <p:nvPicPr>
          <p:cNvPr id="21" name="Image 1" descr="/home/claude/thesis_deck/icons/targe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746" y="2164385"/>
            <a:ext cx="608990" cy="608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AUTOMATIC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Experimental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Bangla → Chatgaya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45352" y="164592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Chatgaya → Standard Bangla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45352" y="196596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 improved both metrics for Bangla→Chatgaya; the reverse direction showed mixed, near-parity results.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BEST-PERFORMING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Comparative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in Score with Augmentation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77240" y="2423160"/>
          <a:ext cx="4937760" cy="11887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Direction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Δ BLEU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Δ chrF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Bangla → Chatgaya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+2.67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+2.60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Chatgaya → Standard Bangla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8A93A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−0.53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+0.28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79476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Observation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49377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Lexicon-based augmentation is more beneficial for generating dialectal (Chatgaya) output than for translating dialect into standard language, where performance remained stable regardless of augmentation.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422392" cy="4206240"/>
          </a:xfrm>
          <a:prstGeom prst="roundRect">
            <a:avLst>
              <a:gd name="adj" fmla="val 1957"/>
            </a:avLst>
          </a:prstGeom>
          <a:solidFill>
            <a:srgbClr val="1B2A4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</p:spPr>
      </p:sp>
      <p:sp>
        <p:nvSpPr>
          <p:cNvPr id="11" name="Text 8"/>
          <p:cNvSpPr/>
          <p:nvPr/>
        </p:nvSpPr>
        <p:spPr>
          <a:xfrm>
            <a:off x="6537960" y="201168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2606040"/>
            <a:ext cx="48463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M2 — Standard Bangla → Chatgaya (Augmented)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342900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45.06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537960" y="42062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3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52560" y="342900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72.11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9052560" y="420624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3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475488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3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BLEU and chrF improvement of all four experiments — selected for deployment alongside CTG→BN augmented model.</a:t>
            </a:r>
            <a:endParaRPr lang="en-US" sz="1150" dirty="0"/>
          </a:p>
        </p:txBody>
      </p:sp>
      <p:sp>
        <p:nvSpPr>
          <p:cNvPr id="6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NATIVE SPEAKER JUDGMENT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Evaluation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1206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377440"/>
            <a:ext cx="3246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4–5 native Chatgaya speakers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218688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3218688"/>
            <a:ext cx="3246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comparison vs. reference translations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059936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4059936"/>
            <a:ext cx="3246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accuracy &amp; semantic correctness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901184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4901184"/>
            <a:ext cx="3246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meaning preservation, flag unnatural output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1737360"/>
            <a:ext cx="5879592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920240"/>
            <a:ext cx="914400" cy="91440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6" name="Image 0" descr="/home/claude/thesis_deck/icons/awar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2039112"/>
            <a:ext cx="676656" cy="6766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40880" y="1737360"/>
            <a:ext cx="4480560" cy="1298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BN→CTG augmented outputs judged closer to reference translations and more natural dialectal phrasing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06440" y="3218688"/>
            <a:ext cx="5879592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3401568"/>
            <a:ext cx="914400" cy="914400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20" name="Image 1" descr="/home/claude/thesi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3520440"/>
            <a:ext cx="676656" cy="6766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3218688"/>
            <a:ext cx="4480560" cy="1298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CTG→BN models (original &amp; augmented) both produced accurate, semantically consistent Standard Bangla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806440" y="4700016"/>
            <a:ext cx="5879592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89320" y="4882896"/>
            <a:ext cx="914400" cy="914400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24" name="Image 2" descr="/home/claude/thesis_deck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5001768"/>
            <a:ext cx="676656" cy="6766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40880" y="4700016"/>
            <a:ext cx="4480560" cy="1298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Reviewers flagged occasional lexical-choice and sentence-construction issues for further refinement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— FROM MODEL TO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083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System Architecture</a:t>
            </a:r>
            <a:endParaRPr lang="en-US" sz="32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20</a:t>
            </a:r>
            <a:endParaRPr lang="en-US" sz="900" dirty="0"/>
          </a:p>
        </p:txBody>
      </p:sp>
      <p:pic>
        <p:nvPicPr>
          <p:cNvPr id="31" name="Picture 30" descr="app_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0" y="1326515"/>
            <a:ext cx="5588000" cy="54584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— CHATGAYA TRANSLATOR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 Demonstration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41375" y="1522095"/>
            <a:ext cx="2736850" cy="4732655"/>
          </a:xfrm>
          <a:prstGeom prst="roundRect">
            <a:avLst>
              <a:gd name="adj" fmla="val 4895"/>
            </a:avLst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4251960" y="1691640"/>
            <a:ext cx="745236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947672"/>
            <a:ext cx="914400" cy="91440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0" name="Image 0" descr="/home/claude/thesis_deck/icons/za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066544"/>
            <a:ext cx="676656" cy="6766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0" y="1856232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Inference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0" y="2240280"/>
            <a:ext cx="60350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generates translations with live latency reporting for monitoring.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51960" y="3264408"/>
            <a:ext cx="745236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80560" y="3520440"/>
            <a:ext cx="914400" cy="91440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5" name="Image 1" descr="/home/claude/thesis_deck/icons/repea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3639312"/>
            <a:ext cx="676656" cy="6766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0" y="3429000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Toggle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5486400" y="3813048"/>
            <a:ext cx="60350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interface switches between Bangla→Chatgaya and Chatgaya→Bangla instantly.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251960" y="4837176"/>
            <a:ext cx="745236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480560" y="5093208"/>
            <a:ext cx="914400" cy="91440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30" name="Image 2" descr="/home/claude/thesis_deck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5212080"/>
            <a:ext cx="676656" cy="6766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0" y="5001768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Cached Model Serving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5486400" y="5385816"/>
            <a:ext cx="60350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Previously loaded mBART-50 models are cached in memory to reduce response time.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  <p:pic>
        <p:nvPicPr>
          <p:cNvPr id="35" name="Picture 34" descr="app_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075" y="1433195"/>
            <a:ext cx="2423160" cy="4841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— WHAT THIS WORK DELIVERS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706624" cy="32918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2121408"/>
            <a:ext cx="777240" cy="777240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6" name="Image 0" descr="/home/claude/thesi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653" y="2222449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34086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Curated Parallel Corpus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" y="3794760"/>
            <a:ext cx="226771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2,020 manually verified Bangla–Chatgaya sentence pairs with a 49-entry lexicon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2424" y="1828800"/>
            <a:ext cx="2706624" cy="32918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7116" y="2121408"/>
            <a:ext cx="777240" cy="77724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1" name="Image 1" descr="/home/claude/thesis_deck/icons/mer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157" y="2222449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108960"/>
            <a:ext cx="234086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 Evaluation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3794760"/>
            <a:ext cx="226771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Empirical analysis of lexicon-based data augmentation for low-resource dialect NMT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81928" y="1828800"/>
            <a:ext cx="2706624" cy="32918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6620" y="2121408"/>
            <a:ext cx="777240" cy="777240"/>
          </a:xfrm>
          <a:prstGeom prst="ellipse">
            <a:avLst/>
          </a:prstGeom>
          <a:solidFill>
            <a:srgbClr val="2E5EAA"/>
          </a:solidFill>
        </p:spPr>
      </p:sp>
      <p:pic>
        <p:nvPicPr>
          <p:cNvPr id="16" name="Image 2" descr="/home/claude/thesis_deck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661" y="2222449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4808" y="3108960"/>
            <a:ext cx="234086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Bidirectional Models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01384" y="3794760"/>
            <a:ext cx="226771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mBART-50 models spanning both translation directions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71432" y="1828800"/>
            <a:ext cx="2706624" cy="329184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36124" y="2121408"/>
            <a:ext cx="777240" cy="77724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1" name="Image 3" descr="/home/claude/thesis_deck/icons/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165" y="2222449"/>
            <a:ext cx="575158" cy="5751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54312" y="3108960"/>
            <a:ext cx="234086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90888" y="3794760"/>
            <a:ext cx="226771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Flutter mobile application for real-time translation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— HONEST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194560"/>
            <a:ext cx="731520" cy="731520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6" name="Image 0" descr="/home/claude/thesi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228965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3063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Corpus scale is modest compared to large-scale NMT training sets, which may limit generalization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88536" y="192024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28716" y="2194560"/>
            <a:ext cx="731520" cy="731520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10" name="Image 1" descr="/home/claude/thesis_deck/icons/flag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814" y="230997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2856" y="3154680"/>
            <a:ext cx="3063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is limited to the Chatgaya dialect only — other Bangla regional dialects were not evaluated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74152" y="192024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5F7FA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514332" y="2194560"/>
            <a:ext cx="731520" cy="731520"/>
          </a:xfrm>
          <a:prstGeom prst="ellipse">
            <a:avLst/>
          </a:prstGeom>
          <a:solidFill>
            <a:srgbClr val="F2994A"/>
          </a:solidFill>
        </p:spPr>
      </p:sp>
      <p:pic>
        <p:nvPicPr>
          <p:cNvPr id="14" name="Image 2" descr="/home/claude/thesis_deck/icons/rep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430" y="228965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48472" y="3154680"/>
            <a:ext cx="3063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supports sentence-level text translation only — no speech input, TTS, or offline mode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— WHERE THIS CAN GO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Enhancement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31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37944"/>
            <a:ext cx="585216" cy="585216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6" name="Image 0" descr="/home/claude/thesi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10" y="1914022"/>
            <a:ext cx="433060" cy="433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9669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the parallel corpus with more diverse, native-speaker-sourced sentence pairs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642616"/>
            <a:ext cx="111831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743200"/>
            <a:ext cx="585216" cy="585216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0" name="Image 1" descr="/home/claude/thesis_deck/icons/cp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10" y="2819278"/>
            <a:ext cx="433060" cy="433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42616"/>
            <a:ext cx="99669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advanced multilingual models and parameter-efficient fine-tuning techniques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547872"/>
            <a:ext cx="111831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3648456"/>
            <a:ext cx="585216" cy="585216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4" name="Image 2" descr="/home/claude/thesis_deck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" y="3724534"/>
            <a:ext cx="433060" cy="4330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547872"/>
            <a:ext cx="99669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speech-to-text input and text-to-speech output for accessibility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4453128"/>
            <a:ext cx="111831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4553712"/>
            <a:ext cx="585216" cy="585216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8" name="Image 3" descr="/home/claude/thesis_deck/icons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0" y="4629790"/>
            <a:ext cx="433060" cy="4330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453128"/>
            <a:ext cx="99669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the framework to other Bangla regional dialects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5358384"/>
            <a:ext cx="111831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5458968"/>
            <a:ext cx="585216" cy="585216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22" name="Image 4" descr="/home/claude/thesis_deck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0" y="5535046"/>
            <a:ext cx="433060" cy="4330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358384"/>
            <a:ext cx="99669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translation service on a scalable cloud platform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E5EAA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0352" y="173736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8820"/>
            <a:ext cx="502920" cy="50292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7" name="Image 0" descr="/home/claude/thesis_deck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0542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37360"/>
            <a:ext cx="9966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 manually curated, native-speaker-validated Bangla–Chatgaya parallel corpus (2,020 pairs)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30352" y="2889504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140964"/>
            <a:ext cx="502920" cy="50292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1" name="Image 1" descr="/home/claude/thesis_deck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3206344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89504"/>
            <a:ext cx="9966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4 bidirectional mBART-50 models comparing original vs. augmented training data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30352" y="4041648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293108"/>
            <a:ext cx="502920" cy="50292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5" name="Image 2" descr="/home/claude/thesis_deck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4358488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041648"/>
            <a:ext cx="9966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 improved BLEU (+2.67) &amp; chrF (+2.60) for Standard Bangla → Chatgaya translation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30352" y="5193792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5445252"/>
            <a:ext cx="502920" cy="502920"/>
          </a:xfrm>
          <a:prstGeom prst="ellipse">
            <a:avLst/>
          </a:prstGeom>
          <a:solidFill>
            <a:srgbClr val="17A398"/>
          </a:solidFill>
        </p:spPr>
      </p:sp>
      <p:pic>
        <p:nvPicPr>
          <p:cNvPr id="19" name="Image 3" descr="/home/claude/thesis_deck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5510632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193792"/>
            <a:ext cx="9966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a working FastAPI + Flutter mobile prototype for real-time bidirectional translation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NMT: Standard Bangla ↔ Chatgaya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2E5EAA">
              <a:alpha val="2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572000"/>
            <a:ext cx="4206240" cy="4206240"/>
          </a:xfrm>
          <a:prstGeom prst="ellipse">
            <a:avLst/>
          </a:prstGeom>
          <a:solidFill>
            <a:srgbClr val="17A398">
              <a:alpha val="2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7A3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24048" y="4343400"/>
            <a:ext cx="59436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4048" y="452628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Mostafa Al Moin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7D3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220239049  •  BGC Trust University Bangladesh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7D3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by Md. Asaduzzaman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12174</Words>
  <Application>WPS Presentation</Application>
  <PresentationFormat>On-screen Show (16:9)</PresentationFormat>
  <Paragraphs>731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Calibri</vt:lpstr>
      <vt:lpstr>Calibri</vt:lpstr>
      <vt:lpstr>Poppins</vt:lpstr>
      <vt:lpstr>Siyam Rupali</vt:lpstr>
      <vt:lpstr>Poppins</vt:lpstr>
      <vt:lpstr>Poppins</vt:lpstr>
      <vt:lpstr>Microsoft YaHei</vt:lpstr>
      <vt:lpstr>Arial Unicode MS</vt:lpstr>
      <vt:lpstr>Arial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Moin Khan</cp:lastModifiedBy>
  <cp:revision>9</cp:revision>
  <dcterms:created xsi:type="dcterms:W3CDTF">2026-07-31T08:05:00Z</dcterms:created>
  <dcterms:modified xsi:type="dcterms:W3CDTF">2026-08-02T01:47:39Z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019D1DC9646B4635A64D4436DFAF21F1_12</vt:lpwstr>
  </property>
</Properties>
</file>